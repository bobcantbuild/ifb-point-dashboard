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1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8EA0F-FD54-EA62-29C8-5FE66F2F7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50CFE-F465-C4D1-E758-F7937E04B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274F4-C2A1-2FE4-B52C-F3F36A6D0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198C6-232F-8D01-8140-0690568FA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7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011680"/>
            <a:ext cx="5943600" cy="594360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31375" y="-1097280"/>
            <a:ext cx="4114800" cy="4114800"/>
          </a:xfrm>
          <a:prstGeom prst="ellipse">
            <a:avLst/>
          </a:prstGeom>
          <a:solidFill>
            <a:srgbClr val="4F46E5">
              <a:alpha val="5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-</a:t>
            </a:r>
            <a:b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user guide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29260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37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Sign In  ·  Regional Overview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4937760"/>
            <a:ext cx="29260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4937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Per-Point Workspace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IFB Point owners &amp; regional managers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every follow-up is seen, owned, and closed.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07568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falls through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56032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due for a call is surfaced today, missed, or upcoming.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78308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103120"/>
            <a:ext cx="685800" cy="6858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06640" y="207568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in one glance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06640" y="256032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and see how your mapped IFB Points are doing — no spreadsheets, no filters to set.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0624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26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44988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updates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98348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call outcome in three clicks — Contacted, interested, reason, done.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42062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20624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4526280"/>
            <a:ext cx="685800" cy="6858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526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06640" y="44988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Discipline, built 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498348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unanswered RnRs and the lead is auto-closed as LOST. No lingering tasks.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ORGANISED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screens, one purpose.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3478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+ Regional Overview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mapped IFB Points, at a glance.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scoped to your region
</a:t>
            </a: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 (Points, Total, Contacted, Not Contacted, RnR)
</a:t>
            </a: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mix chart — Day / Week / Month
</a:t>
            </a: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insights panel
</a:t>
            </a: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list of every IFB Point you manage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40680" cy="4206240"/>
          </a:xfrm>
          <a:prstGeom prst="roundRect">
            <a:avLst>
              <a:gd name="adj" fmla="val 3478"/>
            </a:avLst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36092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Workspace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6092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actual follow-up work gets done.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9260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KPIs for that point
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buttons — Today / Missed / Date / Open / Attempted
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search + date range
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 with eye (👁) for full details
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Lead (✏) dialog to log the outcome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-3657600"/>
            <a:ext cx="6400800" cy="640080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 &amp;  Regional Overview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landing screen — built for managers who own many IFB Points.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3CF05-042D-A4CA-0A90-A868B71F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027CD8-045D-AC9E-FC41-574FD9ECC21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2B2C12-169E-31D6-7A42-8EE88DFAA6B8}"/>
              </a:ext>
            </a:extLst>
          </p:cNvPr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SIGN IN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8480E4-D0BA-17F8-5EEF-0AB4A3715BCF}"/>
              </a:ext>
            </a:extLst>
          </p:cNvPr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screen. Your region travels with you.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838812-EAD6-0EB5-AB40-3C7A36E048D6}"/>
              </a:ext>
            </a:extLst>
          </p:cNvPr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4F46E5"/>
                </a:solidFill>
              </a:rPr>
              <a:t>What you do
</a:t>
            </a:r>
            <a:r>
              <a:rPr lang="en-US" sz="1300" dirty="0">
                <a:solidFill>
                  <a:srgbClr val="0F172A"/>
                </a:solidFill>
              </a:rPr>
              <a:t>Enter your IFB email and password. Hit Sign In.
</a:t>
            </a:r>
            <a:r>
              <a:rPr lang="en-US" sz="1400" b="1" dirty="0">
                <a:solidFill>
                  <a:srgbClr val="4F46E5"/>
                </a:solidFill>
              </a:rPr>
              <a:t>What happens behind it
</a:t>
            </a:r>
            <a:r>
              <a:rPr lang="en-US" sz="1300" dirty="0">
                <a:solidFill>
                  <a:srgbClr val="0F172A"/>
                </a:solidFill>
              </a:rPr>
              <a:t>The system looks you up and figures out which IFB Points belong to your region, branch, and assignment — only those will show up for you. </a:t>
            </a:r>
            <a:r>
              <a:rPr lang="en-US" sz="1300" i="1" dirty="0">
                <a:solidFill>
                  <a:srgbClr val="0F172A"/>
                </a:solidFill>
              </a:rPr>
              <a:t>Nobody else's points clutter your view.
</a:t>
            </a:r>
            <a:r>
              <a:rPr lang="en-US" sz="1400" b="1" dirty="0">
                <a:solidFill>
                  <a:srgbClr val="4F46E5"/>
                </a:solidFill>
              </a:rPr>
              <a:t>Why this matters
</a:t>
            </a:r>
            <a:r>
              <a:rPr lang="en-US" sz="1300" dirty="0">
                <a:solidFill>
                  <a:srgbClr val="0F172A"/>
                </a:solidFill>
              </a:rPr>
              <a:t>No filters to set, no codes to remember. Your scope is decided the moment you sign in.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F596E9C-3212-A07F-1469-3EAEDEA6F021}"/>
              </a:ext>
            </a:extLst>
          </p:cNvPr>
          <p:cNvSpPr/>
          <p:nvPr/>
        </p:nvSpPr>
        <p:spPr>
          <a:xfrm>
            <a:off x="640080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5875">
            <a:solidFill>
              <a:srgbClr val="E0E7FF"/>
            </a:solidFill>
            <a:prstDash val="dash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DBA0BA-6F8C-EC4B-8D95-3873FF5D7B83}"/>
              </a:ext>
            </a:extLst>
          </p:cNvPr>
          <p:cNvSpPr/>
          <p:nvPr/>
        </p:nvSpPr>
        <p:spPr>
          <a:xfrm>
            <a:off x="6400800" y="178308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
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01_login.png — the Sign In screen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9722BE-B24F-E6D2-66F4-8EE9823D5E4A}"/>
              </a:ext>
            </a:extLst>
          </p:cNvPr>
          <p:cNvSpPr/>
          <p:nvPr/>
        </p:nvSpPr>
        <p:spPr>
          <a:xfrm>
            <a:off x="548640" y="6035040"/>
            <a:ext cx="11155680" cy="411480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8CEFC8E-2071-01D2-70BA-DAC44CFA40AB}"/>
              </a:ext>
            </a:extLst>
          </p:cNvPr>
          <p:cNvSpPr/>
          <p:nvPr/>
        </p:nvSpPr>
        <p:spPr>
          <a:xfrm>
            <a:off x="731520" y="6035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signing in? The dashboard shows a friendly red banner — re-check the email exactly as IT has it, including the dot.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080DC6-E9C9-F93D-E670-5E079740AEBF}"/>
              </a:ext>
            </a:extLst>
          </p:cNvPr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4CCE474-243A-31A9-F07D-776C938F47BC}"/>
              </a:ext>
            </a:extLst>
          </p:cNvPr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  <p:pic>
        <p:nvPicPr>
          <p:cNvPr id="13" name="Picture 12" descr="Sign In&#10;&#10;AI-generated content may be incorrect.">
            <a:extLst>
              <a:ext uri="{FF2B5EF4-FFF2-40B4-BE49-F238E27FC236}">
                <a16:creationId xmlns:a16="http://schemas.microsoft.com/office/drawing/2014/main" id="{5D3BDFFD-FCA3-48CF-7AC5-460751C4B5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13" r="12566" b="3640"/>
          <a:stretch>
            <a:fillRect/>
          </a:stretch>
        </p:blipFill>
        <p:spPr>
          <a:xfrm>
            <a:off x="6601471" y="2022125"/>
            <a:ext cx="4863822" cy="358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8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THE LANDING SCREEN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Overview — your home base after sign-in.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949440" cy="4434840"/>
          </a:xfrm>
          <a:prstGeom prst="roundRect">
            <a:avLst>
              <a:gd name="adj" fmla="val 2062"/>
            </a:avLst>
          </a:prstGeom>
          <a:solidFill>
            <a:srgbClr val="F8FAFC"/>
          </a:solidFill>
          <a:ln w="15875">
            <a:solidFill>
              <a:srgbClr val="E0E7F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694944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
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 (post-login landing)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80960" y="1783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on day 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0" y="2286000"/>
            <a:ext cx="4023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 cards on top.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Quick pulse on your whole region.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rail — your IFB Points.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Search by name or code, tick to focus.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 lenses.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Day · Week · Month — same data, different zoom.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panel.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Plain-English commentary, auto-generated.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  <p:pic>
        <p:nvPicPr>
          <p:cNvPr id="12" name="Picture 11" descr="The image displays a dashboard with various IFB points, their contact status, and engagement levels, filtered by date and status.&#10;&#10;AI-generated content may be incorrect.">
            <a:extLst>
              <a:ext uri="{FF2B5EF4-FFF2-40B4-BE49-F238E27FC236}">
                <a16:creationId xmlns:a16="http://schemas.microsoft.com/office/drawing/2014/main" id="{C612C373-88CD-8AC6-41D9-F4E998F7D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9" r="2223" b="3621"/>
          <a:stretch>
            <a:fillRect/>
          </a:stretch>
        </p:blipFill>
        <p:spPr>
          <a:xfrm>
            <a:off x="690203" y="2071036"/>
            <a:ext cx="6666313" cy="3391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KPI  STRIP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numbers that tell you if the day is on track.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9992" y="178308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9992" y="1783080"/>
            <a:ext cx="73152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4584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8163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</a:rPr>
              <a:t>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4584" y="2240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9992" y="32461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IFB Points fall under your scope today.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4280" y="178308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4280" y="1783080"/>
            <a:ext cx="73152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8872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FOLLOW 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59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58872" y="2240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3,418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4280" y="32461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waiting for a call — across all your points.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98568" y="178308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98568" y="178308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316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0208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3160" y="2240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98568" y="32461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already made and logged.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02856" y="178308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2856" y="178308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7448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CONTACTED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94496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67448" y="2240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02856" y="32461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tried but couldn't be reached.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7144" y="178308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7144" y="178308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71736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98784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71736" y="2240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607144" y="32461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Ring-no-Response — needs another attempt.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937760"/>
            <a:ext cx="11155680" cy="123444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them together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Contacted + Not Contacted + RnR + (anything still untouched).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Contacted creeps high, your callers are reaching voicemails — change the calling window.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RnR is creeping up, customers are picking up but not answering — schedule a fresh callback.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RAIL  ·  YOUR IFB 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tick, focus.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E0E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 City mall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46888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468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Clear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71800"/>
            <a:ext cx="54864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449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0837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City Mall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383280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383280"/>
            <a:ext cx="54864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4564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1985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Anand Vihar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8679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794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Banjara Hills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2793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206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Sector 18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617720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617720"/>
            <a:ext cx="54864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690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65429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617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Andheri West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51023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5029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Jubilee Hills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55138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5440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 Park Street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80560" y="1783080"/>
            <a:ext cx="7223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F46E5"/>
                </a:solidFill>
              </a:rPr>
              <a:t>🔍  Search
</a:t>
            </a:r>
            <a:r>
              <a:rPr lang="en-US" sz="1200" dirty="0">
                <a:solidFill>
                  <a:srgbClr val="0F172A"/>
                </a:solidFill>
              </a:rPr>
              <a:t>Type any part of an IFB Point name OR its code. The list narrows down live as you type.
</a:t>
            </a:r>
            <a:r>
              <a:rPr lang="en-US" sz="1400" b="1" dirty="0">
                <a:solidFill>
                  <a:srgbClr val="4F46E5"/>
                </a:solidFill>
              </a:rPr>
              <a:t>✅  All
</a:t>
            </a:r>
            <a:r>
              <a:rPr lang="en-US" sz="1200" dirty="0">
                <a:solidFill>
                  <a:srgbClr val="0F172A"/>
                </a:solidFill>
              </a:rPr>
              <a:t>If you've searched, this ticks every result. With no search, it clears all ticks (= shows every point in the charts).
</a:t>
            </a:r>
            <a:r>
              <a:rPr lang="en-US" sz="1400" b="1" dirty="0">
                <a:solidFill>
                  <a:srgbClr val="4F46E5"/>
                </a:solidFill>
              </a:rPr>
              <a:t>✖  Clear
</a:t>
            </a:r>
            <a:r>
              <a:rPr lang="en-US" sz="1200" dirty="0">
                <a:solidFill>
                  <a:srgbClr val="0F172A"/>
                </a:solidFill>
              </a:rPr>
              <a:t>Empties the search box AND unticks everything — quickest way back to a clean slate.
</a:t>
            </a:r>
            <a:r>
              <a:rPr lang="en-US" sz="1400" b="1" dirty="0">
                <a:solidFill>
                  <a:srgbClr val="4F46E5"/>
                </a:solidFill>
              </a:rPr>
              <a:t>☑  Checkboxes
</a:t>
            </a:r>
            <a:r>
              <a:rPr lang="en-US" sz="1200" dirty="0">
                <a:solidFill>
                  <a:srgbClr val="0F172A"/>
                </a:solidFill>
              </a:rPr>
              <a:t>Tick one or many. The charts and KPIs on the right update only for the ticked points.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MIX 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is a day. Its width is volume, its colours are outcomes.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783080"/>
            <a:ext cx="182880" cy="18288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7190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Interested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783080"/>
            <a:ext cx="182880" cy="18288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7190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78308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7190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Contacted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178308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7190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4040" y="1783080"/>
            <a:ext cx="182880" cy="18288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17190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7498080" cy="292608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5875">
            <a:solidFill>
              <a:srgbClr val="E0E7F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2331720"/>
            <a:ext cx="7498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
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Marimekko chart from Overview Dashboard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2743200"/>
            <a:ext cx="3520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WIDTH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Fatter column = more follow-ups landed in that period.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HEIGHT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colour's share = how many calls ended that way.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HOVER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over a column for the exact counts &amp; %.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CIRCLES ABOVE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colour circle to toggle that outcome on/off in the chart.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864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read: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dark-red (Not Contacted)? Customers aren't picking up at all. Lots of amber (RnR)? They pick up but don't answer your call — try a different time slot.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  <p:pic>
        <p:nvPicPr>
          <p:cNvPr id="26" name="Picture 25" descr="The image displays a dashboard with various metrics, including interest levels, contact attempts, and follow-up statistics, spanning the last 7 days, 4 weeks, and 6 months.&#10;&#10;AI-generated content may be incorrect.">
            <a:extLst>
              <a:ext uri="{FF2B5EF4-FFF2-40B4-BE49-F238E27FC236}">
                <a16:creationId xmlns:a16="http://schemas.microsoft.com/office/drawing/2014/main" id="{B2DDCF17-AB01-7EAF-699B-3B3266DAC3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44" t="-6525" r="-2824" b="33507"/>
          <a:stretch>
            <a:fillRect/>
          </a:stretch>
        </p:blipFill>
        <p:spPr>
          <a:xfrm>
            <a:off x="1397965" y="2067833"/>
            <a:ext cx="5616550" cy="31899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explains itself, in plain English.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94360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E0E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94360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Insights — Last 7 Days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follow ups logged this week.
</a:t>
            </a: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up 18% vs the week's average.
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day: Wednesday with 71 follow ups.
Low day: Sunday with 12 follow ups.
Dominant outcome: Contacted (54%).
</a:t>
            </a: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Contacted is over a third of the volume — worth a callback push.
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RnR follow ups still need a fresh attempt.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panel covers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22860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follow-ups in the window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7432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651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/ this week / this month compares to the average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2004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3108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and low periods (ignoring days with no data)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6576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566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outcome — what most calls ended 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41148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if Not Contacted is over 20%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45720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share, with context ("nearly all", "more than half", "over a third")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50292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4937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rate when it's healthy (&gt;10%)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54864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5394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RnR callbacks still pending, grammar-correct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 TIME  LENSES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region, three zoom levels — stacked on one screen.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5128" y="1874520"/>
            <a:ext cx="3657600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128" y="1874520"/>
            <a:ext cx="3657600" cy="640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8008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Day Wise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5128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3728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today's energy. Are calls landing right now? Where's yesterday's dip?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7048" y="1874520"/>
            <a:ext cx="3657600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048" y="1874520"/>
            <a:ext cx="365760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9928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 Week Wise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67048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4 Weeks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648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trends — is this week beating last? Are RnRs creeping up week-on-week?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98968" y="1874520"/>
            <a:ext cx="3657600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8968" y="1874520"/>
            <a:ext cx="365760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1848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Month Wise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98968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Months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27568" y="31089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view — seasonal peaks, the long arc of interest rate, slow months.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D97706">
              <a:alpha val="35000"/>
            </a:srgbClr>
          </a:solidFill>
          <a:ln w="1270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0" y="-3200400"/>
            <a:ext cx="6400800" cy="6400800"/>
          </a:xfrm>
          <a:prstGeom prst="ellipse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TWO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IFB Point  Workspace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customer becomes a closed loop.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 AN  IFB 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point name in the rail — or open the link with its code.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5568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5875">
            <a:solidFill>
              <a:srgbClr val="E0E7F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
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Per-IFB-Point header — name, code, 5 KPIs, follow-up stages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155680" cy="2286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top strip tells you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10515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IFB Point name + code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exactly which point you're looking at.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Total Follow Ups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open book of customers for this point.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Contact Status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Contacted / Not Contacted / RnR + Empty (untouched) split.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Interest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many of those who picked up actually wanted the product.
</a:t>
            </a: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Follow-Up Stage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Post-Purchase, 1st 30 days, Pre-AMC, 8-Year Upgrade.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  <p:pic>
        <p:nvPicPr>
          <p:cNvPr id="13" name="Picture 12" descr="The image displays a dashboard of a customer follow-up system in an IFB POINT software, listing various customer details, contact statuses, and follow-up actions for service requests.&#10;&#10;AI-generated content may be incorrect.">
            <a:extLst>
              <a:ext uri="{FF2B5EF4-FFF2-40B4-BE49-F238E27FC236}">
                <a16:creationId xmlns:a16="http://schemas.microsoft.com/office/drawing/2014/main" id="{30745B9C-6B39-1A2F-658D-058C9105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912"/>
          <a:stretch>
            <a:fillRect/>
          </a:stretch>
        </p:blipFill>
        <p:spPr>
          <a:xfrm>
            <a:off x="1724527" y="1783081"/>
            <a:ext cx="8606589" cy="20108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 BUTTONS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one-tap filters — the heart of the workspace.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1704" y="1783080"/>
            <a:ext cx="219456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1704" y="1783080"/>
            <a:ext cx="219456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1704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1704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Follow 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8864" y="274320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only customers due TODAY. Your call list for the next 8 hours.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1432" y="4983480"/>
            <a:ext cx="1975104" cy="1188720"/>
          </a:xfrm>
          <a:prstGeom prst="roundRect">
            <a:avLst>
              <a:gd name="adj" fmla="val 461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584" y="5029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
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date/stage filters reset to honour this.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85136" y="1783080"/>
            <a:ext cx="219456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5136" y="1783080"/>
            <a:ext cx="219456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5136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85136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Follow 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22296" y="274320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that were due in the past but never closed.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94864" y="4983480"/>
            <a:ext cx="1975104" cy="1188720"/>
          </a:xfrm>
          <a:prstGeom prst="roundRect">
            <a:avLst>
              <a:gd name="adj" fmla="val 461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8016" y="5029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
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anything that slipped — sorted by oldest first.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98568" y="1783080"/>
            <a:ext cx="219456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98568" y="1783080"/>
            <a:ext cx="219456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8568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98568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35728" y="274320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calendar and pick any date or range you want to focus 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08296" y="4983480"/>
            <a:ext cx="1975104" cy="1188720"/>
          </a:xfrm>
          <a:prstGeom prst="roundRect">
            <a:avLst>
              <a:gd name="adj" fmla="val 461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1448" y="5029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
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with Stage + Search so you can drill down precisely.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2000" y="1783080"/>
            <a:ext cx="219456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2000" y="1783080"/>
            <a:ext cx="219456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20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200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Followup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49160" y="274320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not yet closed — Pending, RnR, Not Contacted, all open work.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21728" y="4983480"/>
            <a:ext cx="1975104" cy="1188720"/>
          </a:xfrm>
          <a:prstGeom prst="roundRect">
            <a:avLst>
              <a:gd name="adj" fmla="val 461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4880" y="5029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
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one-click 'what's left to do?'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25432" y="1783080"/>
            <a:ext cx="219456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25432" y="1783080"/>
            <a:ext cx="219456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25432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625432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62592" y="2743200"/>
            <a:ext cx="1920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you've already tried — Contacted, Not Contacted, or RnR.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735160" y="4983480"/>
            <a:ext cx="1975104" cy="1188720"/>
          </a:xfrm>
          <a:prstGeom prst="roundRect">
            <a:avLst>
              <a:gd name="adj" fmla="val 461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08312" y="5029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
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view — verify what's been worked on this period.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 IT  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· Search · Date range — used together with the filter buttons.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5128" y="1783080"/>
            <a:ext cx="36576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728" y="196596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372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49528" y="19933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Stage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448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Post-Purchase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9448" y="3063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1st 30 days call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9448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Pre-AMC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8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Year Upgrade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9448" y="4023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Greetings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9720" y="4617720"/>
            <a:ext cx="3328416" cy="1508760"/>
          </a:xfrm>
          <a:prstGeom prst="roundRect">
            <a:avLst>
              <a:gd name="adj" fmla="val 4848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736" y="4709160"/>
            <a:ext cx="30723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stage of the customer journey. Each stage carries a different script — handle them as a batch.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67048" y="1783080"/>
            <a:ext cx="36576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5648" y="196596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564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🔎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81448" y="19933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41368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name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41368" y="3063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Phone number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41368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 address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41368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ID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41368" y="4023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(partial match works)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1640" y="4617720"/>
            <a:ext cx="3328416" cy="1508760"/>
          </a:xfrm>
          <a:prstGeom prst="roundRect">
            <a:avLst>
              <a:gd name="adj" fmla="val 4848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9656" y="4709160"/>
            <a:ext cx="30723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fragment. The table filters instantly — useful when a customer rings YOU and you need their record in two seconds.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98968" y="1783080"/>
            <a:ext cx="36576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27568" y="196596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2756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📆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13368" y="19933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73288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Default: today onwards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73288" y="3063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Pick start + end date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73288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Plays nice with all buttons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73288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Resets when you tap Today/Missed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63560" y="4617720"/>
            <a:ext cx="3328416" cy="1508760"/>
          </a:xfrm>
          <a:prstGeom prst="roundRect">
            <a:avLst>
              <a:gd name="adj" fmla="val 4848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91576" y="4709160"/>
            <a:ext cx="30723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table to a specific date window — perfect for monthly reviews or auditing a campaign push.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CUSTOMER  TABLE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worklist. Every row is one customer.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858000" cy="4434840"/>
          </a:xfrm>
          <a:prstGeom prst="roundRect">
            <a:avLst>
              <a:gd name="adj" fmla="val 2062"/>
            </a:avLst>
          </a:prstGeom>
          <a:solidFill>
            <a:srgbClr val="F8FAFC"/>
          </a:solidFill>
          <a:ln w="15875">
            <a:solidFill>
              <a:srgbClr val="E0E7F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685800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
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 — rows + columns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8952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column, decoded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Edit Lead dialog for that row.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0" y="2679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01000" y="2679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0" y="26791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customer's full IFB profile from the live API.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3118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1000" y="31181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31181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follow-up stage the customer is at.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3557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35570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355701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machine model in one line.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8952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01000" y="39959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3995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(primary + alternate) and email.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895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100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Appt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4434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you've promised to call again.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89520" y="4873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01000" y="48737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0" y="48737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chip: Contacted (green), Not Contacted (red), RnR (amber).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5312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01000" y="53126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0" y="531266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60 characters of context for the next caller.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89520" y="5751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🏁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01000" y="575157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57515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/ LOST / open — the closing decision.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  <p:pic>
        <p:nvPicPr>
          <p:cNvPr id="40" name="Picture 39" descr="The image contains a table listing customer names, purchase details, and various statuses, including phone numbers, emails, and remarks.&#10;&#10;AI-generated content may be incorrect.">
            <a:extLst>
              <a:ext uri="{FF2B5EF4-FFF2-40B4-BE49-F238E27FC236}">
                <a16:creationId xmlns:a16="http://schemas.microsoft.com/office/drawing/2014/main" id="{469F6D03-BB23-D31A-6FC7-FCB004FB6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2526632"/>
            <a:ext cx="6861894" cy="27860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 LEAD  (✏)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clicks to log a call — the dialog adapts as you go.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STATUS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  /  Not Contacted  /  RnR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194560"/>
            <a:ext cx="457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783080"/>
            <a:ext cx="7498080" cy="178308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8745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If Contacted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2240280"/>
            <a:ext cx="7132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Interested?  →  Interested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a Next Appointment date.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Interested?  →  Not Interested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a </a:t>
            </a: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(Service issue / Others) and auto-marks Final Status as LOST.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up to 60 characters. Required to enable Save.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0" y="2606040"/>
            <a:ext cx="36576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154680"/>
            <a:ext cx="21488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3611880"/>
            <a:ext cx="7498080" cy="1280160"/>
          </a:xfrm>
          <a:prstGeom prst="roundRect">
            <a:avLst>
              <a:gd name="adj" fmla="val 857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37033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If Not Contacted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406908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Next Appointment date (anything from tomorrow onwards) and a Remark. That's it — the row updates and a fresh callback is scheduled.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11680" y="4023360"/>
            <a:ext cx="36576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4983480"/>
            <a:ext cx="21488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4937760"/>
            <a:ext cx="7498080" cy="128016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5029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If RnR  (Ring-no-Response)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43400" y="53949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Not Contacted — pick the next attempt date and add a remark. The system silently counts your RnRs (see next slide).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 RULES  &amp; 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built in, plus the helpers around the workspace.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2288" y="178308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0888" y="1920240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0888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0968" y="19019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3-RnR Auto-LOST Rule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0888" y="26517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customer has been RnR three times already, the next save (regardless of status) automatically marks their Final Status as LOST. No human judgement call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67048" y="178308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5648" y="1920240"/>
            <a:ext cx="594360" cy="5943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5648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35728" y="19019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 Icon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95648" y="26517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customer's full IFB record — address, serial number, installation date? Click 👁 and it pulls live from the IFB API. No need to leave the dashboard.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1808" y="178308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0408" y="1920240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0408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30488" y="19019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Page Size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0408" y="26517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of 25, 50, or 100 customers. Use Previous / Next to step through. The table stays compact so the filters stay visible.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11155680" cy="1783080"/>
          </a:xfrm>
          <a:prstGeom prst="roundRect">
            <a:avLst>
              <a:gd name="adj" fmla="val 717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 PRACTICES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day on Today Follow Up — it's your built-in call list.
</a:t>
            </a: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Missed Follow Up at midday to catch anything that slipped.
</a:t>
            </a: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fill Remarks — the next caller (or you tomorrow) will thank you.
</a:t>
            </a: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Reason = 'Service issue' faithfully — it flags genuine product problems, not just churn.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Points · Follow Up Control Tower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2291</Words>
  <Application>Microsoft Office PowerPoint</Application>
  <PresentationFormat>Widescreen</PresentationFormat>
  <Paragraphs>278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IFB Industries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Follow Up Control Tower — User Guide</dc:title>
  <dc:subject>PptxGenJS Presentation</dc:subject>
  <dc:creator>PptxGenJS</dc:creator>
  <cp:lastModifiedBy>Aswin S</cp:lastModifiedBy>
  <cp:revision>3</cp:revision>
  <dcterms:created xsi:type="dcterms:W3CDTF">2026-06-08T05:45:10Z</dcterms:created>
  <dcterms:modified xsi:type="dcterms:W3CDTF">2026-06-08T06:00:45Z</dcterms:modified>
</cp:coreProperties>
</file>